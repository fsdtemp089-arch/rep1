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5" r:id="rId7"/>
    <p:sldId id="264" r:id="rId8"/>
    <p:sldId id="266" r:id="rId9"/>
    <p:sldId id="267" r:id="rId10"/>
    <p:sldId id="268" r:id="rId11"/>
    <p:sldId id="269" r:id="rId12"/>
    <p:sldId id="270" r:id="rId13"/>
    <p:sldId id="273" r:id="rId14"/>
    <p:sldId id="274" r:id="rId15"/>
    <p:sldId id="271" r:id="rId16"/>
    <p:sldId id="272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3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365760"/>
            <a:ext cx="1097280" cy="10972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1097280"/>
            <a:ext cx="640080" cy="64008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731520" cy="73152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394960"/>
            <a:ext cx="411480" cy="411480"/>
          </a:xfrm>
          <a:prstGeom prst="ellipse">
            <a:avLst/>
          </a:prstGeom>
          <a:solidFill>
            <a:srgbClr val="3182F6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594360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SPRING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77724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ptos"/>
              </a:defRPr>
            </a:pPr>
            <a:r>
              <a:t>SPRING</a:t>
            </a:r>
            <a:br/>
            <a:r>
              <a:t>ANNOTATIONS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8046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Aptos"/>
              </a:defRPr>
            </a:pPr>
            <a:r>
              <a:t>From setup → Spring Boot → real annotations → easy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03320"/>
            <a:ext cx="5303520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721607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@Autowired  @Bean  @Qualifier  @Value  + 7 more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2926080" cy="2834640"/>
          </a:xfrm>
          <a:prstGeom prst="roundRect">
            <a:avLst/>
          </a:prstGeom>
          <a:solidFill>
            <a:srgbClr val="15223D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22860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200" b="1">
                <a:solidFill>
                  <a:srgbClr val="22D3EE"/>
                </a:solidFill>
                <a:latin typeface="Aptos"/>
              </a:defRPr>
            </a:pPr>
            <a:r>
              <a:t>@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0332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ANNOTATION</a:t>
            </a:r>
            <a:br/>
            <a:r>
              <a:t>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JAVA • SPRING • SPRING BOOT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616DD-43E7-33B2-5A83-DF3514956DFD}"/>
              </a:ext>
            </a:extLst>
          </p:cNvPr>
          <p:cNvSpPr txBox="1"/>
          <p:nvPr/>
        </p:nvSpPr>
        <p:spPr>
          <a:xfrm>
            <a:off x="1008667" y="4567194"/>
            <a:ext cx="25452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SIDDHARTH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KARTHIK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ASHISH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ULLAS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RAM NARAYAN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0C0FD0-3277-394D-3AB9-A4AFA6923F2D}"/>
              </a:ext>
            </a:extLst>
          </p:cNvPr>
          <p:cNvSpPr txBox="1"/>
          <p:nvPr/>
        </p:nvSpPr>
        <p:spPr>
          <a:xfrm>
            <a:off x="1008667" y="4139582"/>
            <a:ext cx="1545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By :-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First, we build the foundation.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" y="1966073"/>
            <a:ext cx="2834640" cy="1188720"/>
          </a:xfrm>
          <a:prstGeom prst="roundRect">
            <a:avLst/>
          </a:prstGeom>
          <a:solidFill>
            <a:srgbClr val="15223D"/>
          </a:solidFill>
          <a:ln>
            <a:solidFill>
              <a:srgbClr val="34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0690" y="1987999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451" y="2212211"/>
            <a:ext cx="283464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A  short introduction to </a:t>
            </a:r>
          </a:p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Spring 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12212" y="2723906"/>
            <a:ext cx="28346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1100" b="0">
                <a:solidFill>
                  <a:srgbClr val="94A3B8"/>
                </a:solidFill>
                <a:latin typeface="Aptos"/>
              </a:defRPr>
            </a:pPr>
            <a:r>
              <a:rPr lang="en-US" dirty="0"/>
              <a:t>Limitations of spring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100" b="0">
                <a:solidFill>
                  <a:srgbClr val="94A3B8"/>
                </a:solidFill>
                <a:latin typeface="Aptos"/>
              </a:defRPr>
            </a:pPr>
            <a:r>
              <a:rPr lang="en-US" dirty="0"/>
              <a:t>How spring boot overcomes the spring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078512" y="2434161"/>
            <a:ext cx="3337560" cy="1371600"/>
          </a:xfrm>
          <a:prstGeom prst="roundRect">
            <a:avLst/>
          </a:prstGeom>
          <a:solidFill>
            <a:srgbClr val="15223D"/>
          </a:solidFill>
          <a:ln>
            <a:solidFill>
              <a:srgbClr val="34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7811" y="247950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85860" y="5081065"/>
            <a:ext cx="3337560" cy="1371600"/>
          </a:xfrm>
          <a:prstGeom prst="roundRect">
            <a:avLst/>
          </a:prstGeom>
          <a:solidFill>
            <a:srgbClr val="15223D"/>
          </a:solidFill>
          <a:ln>
            <a:solidFill>
              <a:srgbClr val="34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22875" y="5213940"/>
            <a:ext cx="5029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3243834" y="2743336"/>
            <a:ext cx="28346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Annotations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307155" y="3023988"/>
            <a:ext cx="28346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1100" b="0">
                <a:solidFill>
                  <a:srgbClr val="94A3B8"/>
                </a:solidFill>
                <a:latin typeface="Aptos"/>
              </a:defRPr>
            </a:pPr>
            <a:r>
              <a:rPr lang="en-US" dirty="0"/>
              <a:t>All eleven Spring annotations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9029474" y="5454149"/>
            <a:ext cx="283464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Questions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6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Doubts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6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Thank you 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6768822" y="3285598"/>
            <a:ext cx="3337560" cy="1371600"/>
          </a:xfrm>
          <a:prstGeom prst="roundRect">
            <a:avLst/>
          </a:prstGeom>
          <a:solidFill>
            <a:srgbClr val="15223D"/>
          </a:solidFill>
          <a:ln>
            <a:solidFill>
              <a:srgbClr val="34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92806" y="3396416"/>
            <a:ext cx="5029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7020282" y="362630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rPr dirty="0"/>
              <a:t>Annotations Deep Dive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0282" y="3947830"/>
            <a:ext cx="28346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1100" b="0">
                <a:solidFill>
                  <a:srgbClr val="94A3B8"/>
                </a:solidFill>
                <a:latin typeface="Aptos"/>
              </a:defRPr>
            </a:pPr>
            <a:r>
              <a:rPr lang="en-US" dirty="0"/>
              <a:t>How annotations work together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43F5E"/>
                </a:solidFill>
                <a:latin typeface="Aptos"/>
              </a:defRPr>
            </a:pPr>
            <a:r>
              <a:t>WHY SPRING BOOT?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The pain points of traditional Spring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52760" cy="621792"/>
          </a:xfrm>
          <a:prstGeom prst="roundRect">
            <a:avLst/>
          </a:prstGeom>
          <a:solidFill>
            <a:srgbClr val="15223D"/>
          </a:solidFill>
          <a:ln>
            <a:solidFill>
              <a:srgbClr val="3A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19656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Adding dependencies / JAR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19656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Aptos"/>
              </a:defRPr>
            </a:pPr>
            <a:r>
              <a:t>Manual dependency management can be time-consuming.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60320"/>
            <a:ext cx="10652760" cy="621792"/>
          </a:xfrm>
          <a:prstGeom prst="roundRect">
            <a:avLst/>
          </a:prstGeom>
          <a:solidFill>
            <a:srgbClr val="15223D"/>
          </a:solidFill>
          <a:ln>
            <a:solidFill>
              <a:srgbClr val="3A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97479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42615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Arranging a physical server like TOMCAT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42615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Aptos"/>
              </a:defRPr>
            </a:pPr>
            <a:r>
              <a:t>Traditional deployment often needs external server setup.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83280"/>
            <a:ext cx="10652760" cy="621792"/>
          </a:xfrm>
          <a:prstGeom prst="roundRect">
            <a:avLst/>
          </a:prstGeom>
          <a:solidFill>
            <a:srgbClr val="15223D"/>
          </a:solidFill>
          <a:ln>
            <a:solidFill>
              <a:srgbClr val="3A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52044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65576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Managing a physical database like Oracle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465576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Aptos"/>
              </a:defRPr>
            </a:pPr>
            <a:r>
              <a:t>Infrastructure and database setup add complexity.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06240"/>
            <a:ext cx="10652760" cy="621792"/>
          </a:xfrm>
          <a:prstGeom prst="roundRect">
            <a:avLst/>
          </a:prstGeom>
          <a:solidFill>
            <a:srgbClr val="15223D"/>
          </a:solidFill>
          <a:ln>
            <a:solidFill>
              <a:srgbClr val="3A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3434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88536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Configuring applicationContext.xml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288536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Aptos"/>
              </a:defRPr>
            </a:pPr>
            <a:r>
              <a:t>XML configuration can become lengthy and confusing.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029200"/>
            <a:ext cx="10652760" cy="621792"/>
          </a:xfrm>
          <a:prstGeom prst="roundRect">
            <a:avLst/>
          </a:prstGeom>
          <a:solidFill>
            <a:srgbClr val="15223D"/>
          </a:solidFill>
          <a:ln>
            <a:solidFill>
              <a:srgbClr val="3A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16636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111496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Project structure confusion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11496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Aptos"/>
              </a:defRPr>
            </a:pPr>
            <a:r>
              <a:t>More setup decisions before writing actual features.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8932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Aptos"/>
              </a:defRPr>
            </a:pPr>
            <a:r>
              <a:t>Spring Boot reduces this setup friction 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Key features that simplify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1832" y="1947672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947672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74519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Auto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67128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Spring configures sensible defaults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70632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1832" y="2935224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935224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6207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Spring Boot Starters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54680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Ready-made dependency bundles.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58184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1832" y="3922776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922776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49624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Embedded Servers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42232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Run with embedded Tomcat/Jetty.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45736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41832" y="4910328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4910328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37176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Spring Initializr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129784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Generate a project quickly from start.spring.io.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783080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65392" y="1947672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1947672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1874519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Production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167128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Actuator endpoints for monitoring.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770632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565392" y="2935224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5392" y="2935224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86207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Minimal / No XML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154680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Java configuration and annotations reduce XML.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758184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565392" y="3922776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65392" y="3922776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849624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Easy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142232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Works smoothly with DBs, queues and cloud services.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2296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ptos"/>
              </a:defRPr>
            </a:pPr>
            <a:r>
              <a:t>NOW THE MAGIC BEGINS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200" b="1">
                <a:solidFill>
                  <a:srgbClr val="F8FAFC"/>
                </a:solidFill>
                <a:latin typeface="Aptos"/>
              </a:defRPr>
            </a:pPr>
            <a:r>
              <a:t>SPRING</a:t>
            </a:r>
            <a:br/>
            <a:r>
              <a:t>ANNOTATIONS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6949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Aptos"/>
              </a:defRPr>
            </a:pPr>
            <a:r>
              <a:t>11 annotations • 11 simple examples • one clear mental model</a:t>
            </a:r>
          </a:p>
        </p:txBody>
      </p:sp>
      <p:sp>
        <p:nvSpPr>
          <p:cNvPr id="5" name="Oval 4"/>
          <p:cNvSpPr/>
          <p:nvPr/>
        </p:nvSpPr>
        <p:spPr>
          <a:xfrm>
            <a:off x="7863840" y="1965960"/>
            <a:ext cx="384048" cy="384048"/>
          </a:xfrm>
          <a:prstGeom prst="ellipse">
            <a:avLst/>
          </a:prstGeom>
          <a:solidFill>
            <a:srgbClr val="3182F6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30767" y="2743200"/>
            <a:ext cx="384048" cy="38404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97696" y="1965960"/>
            <a:ext cx="384048" cy="38404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64624" y="2743200"/>
            <a:ext cx="384048" cy="384048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131552" y="1965960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698480" y="2743200"/>
            <a:ext cx="384048" cy="384048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4572000"/>
            <a:ext cx="4114800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590288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Create → Inject → Configure →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@Bean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Declares that a method returns an object managed by Spring.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80" y="2554648"/>
            <a:ext cx="2697480" cy="14003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@Bean tell an java program or spring IOC that class or object creation must be done by </a:t>
            </a:r>
            <a:r>
              <a:rPr lang="en-US" dirty="0" err="1"/>
              <a:t>urself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dirty="0"/>
              <a:t>@Configuration</a:t>
            </a:r>
            <a:br>
              <a:rPr dirty="0"/>
            </a:br>
            <a:r>
              <a:rPr dirty="0"/>
              <a:t>class </a:t>
            </a:r>
            <a:r>
              <a:rPr dirty="0" err="1"/>
              <a:t>AppConfig</a:t>
            </a:r>
            <a:r>
              <a:rPr dirty="0"/>
              <a:t> {</a:t>
            </a:r>
            <a:br>
              <a:rPr dirty="0"/>
            </a:br>
            <a:r>
              <a:rPr dirty="0"/>
              <a:t>    @Bean</a:t>
            </a:r>
            <a:br>
              <a:rPr dirty="0"/>
            </a:br>
            <a:r>
              <a:rPr dirty="0"/>
              <a:t>    public Car car() {</a:t>
            </a:r>
            <a:br>
              <a:rPr dirty="0"/>
            </a:br>
            <a:r>
              <a:rPr dirty="0"/>
              <a:t>        return new Car();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66470"/>
            <a:ext cx="649224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rPr dirty="0"/>
              <a:t> → Spring stores the returned Car as a bean.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Bean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@Autowired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0303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rPr dirty="0"/>
              <a:t>Automatically injects a required dependency.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74720" cy="4194928"/>
          </a:xfrm>
          <a:prstGeom prst="roundRect">
            <a:avLst/>
          </a:prstGeom>
          <a:solidFill>
            <a:srgbClr val="15223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514" y="1966608"/>
            <a:ext cx="2697480" cy="40164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@Autowired is an annotation is used for connecting the same class properties to any of the other class in the program </a:t>
            </a:r>
          </a:p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As word itself proves Auto means by itself it is sharing properties without any other help , wire means it's is connected through out the complete program with sharing the properties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89120" y="1844683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@Autowired 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Class Car {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Engine </a:t>
            </a:r>
            <a:r>
              <a:rPr lang="en-US" dirty="0" err="1"/>
              <a:t>engine</a:t>
            </a:r>
            <a:r>
              <a:rPr lang="en-US" dirty="0"/>
              <a:t> ;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@Autowired 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Car ( Engine engine) {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    </a:t>
            </a:r>
            <a:r>
              <a:rPr lang="en-US" dirty="0" err="1"/>
              <a:t>this.engine</a:t>
            </a:r>
            <a:r>
              <a:rPr lang="en-US" dirty="0"/>
              <a:t> = engine;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}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}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66470"/>
            <a:ext cx="649224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Here : </a:t>
            </a:r>
            <a:r>
              <a:rPr lang="en-US" dirty="0" err="1"/>
              <a:t>Autowired</a:t>
            </a:r>
            <a:r>
              <a:rPr lang="en-US" dirty="0"/>
              <a:t> will help us by importing the required dependencies.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Autowired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@Qualifier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Chooses exactly which bean to inject when multiple beans have the same 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Chooses exactly which bean to inject when multiple beans have the same 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Use it together with dependency injection.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@Autowired</a:t>
            </a:r>
            <a:br/>
            <a:r>
              <a:t>@Qualifier("upiPayment")</a:t>
            </a:r>
            <a:br/>
            <a:r>
              <a:t>private PaymentService paymentService;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66470"/>
            <a:ext cx="649224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rPr dirty="0"/>
              <a:t>→ Inject the bean named </a:t>
            </a:r>
            <a:r>
              <a:rPr dirty="0" err="1"/>
              <a:t>upiPayment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Qualifier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Injects a value from properties, environment variables or expressions.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Injects a value from properties, environment variables or expressions.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Perfect for URLs, names and simple 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@Value("${app.name}")</a:t>
            </a:r>
            <a:br/>
            <a:r>
              <a:t>private String appName;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38928"/>
            <a:ext cx="6492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EASY EXAMPLE → If app.name=ShopEasy, appName becomes ShopEasy.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@DependsOn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Forces one bean to be created before another bean.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Forces one bean to be created before another bean.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Use when initialization order matters.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@Bean</a:t>
            </a:r>
            <a:br/>
            <a:r>
              <a:t>@DependsOn("database")</a:t>
            </a:r>
            <a:br/>
            <a:r>
              <a:t>public ReportService reportService() {</a:t>
            </a:r>
            <a:br/>
            <a:r>
              <a:t>    return new ReportService();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38928"/>
            <a:ext cx="6492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EASY EXAMPLE → database is initialized before reportService.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DependsOn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3182F6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@Lazy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Delays bean creation until it is actually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3182F6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Delays bean creation until it is actually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3182F6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Useful for expensive or rarely used beans.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3182F6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@Lazy</a:t>
            </a:r>
            <a:br/>
            <a:r>
              <a:t>@Bean</a:t>
            </a:r>
            <a:br/>
            <a:r>
              <a:t>public HeavyReportEngine engine() {</a:t>
            </a:r>
            <a:br/>
            <a:r>
              <a:t>    return new HeavyReportEngine();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38928"/>
            <a:ext cx="6492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EASY EXAMPLE → The engine is created only when first requested.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3182F6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Lazy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Tells Spring to override a method and return a bean dynamically.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Tells Spring to override a method and return a bean dynamically.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Useful when a singleton needs a fresh prototype bean.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@Lookup</a:t>
            </a:r>
            <a:br/>
            <a:r>
              <a:t>public Task createTask() {</a:t>
            </a:r>
            <a:br/>
            <a:r>
              <a:t>    return null;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38928"/>
            <a:ext cx="6492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EASY EXAMPLE → Spring returns a managed Task each time the method is called.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Loads a bean only for a specific environment.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Loads a bean only for a specific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Great for dev, test and production 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@Profile("dev")</a:t>
            </a:r>
            <a:br/>
            <a:r>
              <a:t>@Bean</a:t>
            </a:r>
            <a:br/>
            <a:r>
              <a:t>public DataSource devDataSource() {</a:t>
            </a:r>
            <a:br/>
            <a:r>
              <a:t>    return new DevDataSource();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38928"/>
            <a:ext cx="6492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EASY EXAMPLE → This bean loads only when the dev profile is active.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Imports configuration classes into another configuration class.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Imports configuration classes into another configuration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Use it to organize large applications into modules.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@Configuration</a:t>
            </a:r>
            <a:br/>
            <a:r>
              <a:t>@Import({DatabaseConfig.class,</a:t>
            </a:r>
            <a:br/>
            <a:r>
              <a:t>         SecurityConfig.class})</a:t>
            </a:r>
            <a:br/>
            <a:r>
              <a:t>class AppConfig {}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38928"/>
            <a:ext cx="6492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EASY EXAMPLE → AppConfig now includes beans from both configuration classes.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@Primary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Marks one bean as the default choice when multiple beans match.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Marks one bean as the default choice when multiple beans match.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Avoids ambiguity without repeating @Qualifier everywhere.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@Primary</a:t>
            </a:r>
            <a:br/>
            <a:r>
              <a:t>@Bean</a:t>
            </a:r>
            <a:br/>
            <a:r>
              <a:t>public PaymentService card() {</a:t>
            </a:r>
            <a:br/>
            <a:r>
              <a:t>    return new CardPayment();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38928"/>
            <a:ext cx="6492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EASY EXAMPLE → card() is selected by default.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Controls how long a bean lives and how it is shared.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Controls how long a bean lives and how it is shared.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Common scopes: singleton and prototype.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@Scope("prototype")</a:t>
            </a:r>
            <a:br/>
            <a:r>
              <a:t>@Bean</a:t>
            </a:r>
            <a:br/>
            <a:r>
              <a:t>public Task task() {</a:t>
            </a:r>
            <a:br/>
            <a:r>
              <a:t>    return new Task();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38928"/>
            <a:ext cx="6492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EASY EXAMPLE → Every request for task gets a new Task object.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RAPID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All 11 annotations in one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85623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Aptos"/>
              </a:defRPr>
            </a:pPr>
            <a:r>
              <a:t>@Autowired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25856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Inject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69164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85031" y="185623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ptos"/>
              </a:defRPr>
            </a:pPr>
            <a:r>
              <a:t>@Bean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1" y="225856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85623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ptos"/>
              </a:defRPr>
            </a:pPr>
            <a:r>
              <a:t>@Qualifier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25856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59" y="169164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45751" y="185623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Aptos"/>
              </a:defRPr>
            </a:pPr>
            <a:r>
              <a:t>@Value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1" y="225856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Read config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0896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327355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Aptos"/>
              </a:defRPr>
            </a:pPr>
            <a:r>
              <a:t>@DependsOn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67588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39" y="310896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85031" y="327355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3182F6"/>
                </a:solidFill>
                <a:latin typeface="Aptos"/>
              </a:defRPr>
            </a:pPr>
            <a:r>
              <a:rPr dirty="0"/>
              <a:t>@Lazy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1" y="367588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Delay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10896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327355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Aptos"/>
              </a:defRPr>
            </a:pPr>
            <a:r>
              <a:t>@Lookup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67588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Fetch dynamically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59" y="310896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45751" y="327355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Aptos"/>
              </a:defRPr>
            </a:pPr>
            <a:r>
              <a:t>@Primary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1" y="367588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Default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2628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1" y="469087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ptos"/>
              </a:defRPr>
            </a:pPr>
            <a:r>
              <a:t>@Scope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09320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Lifetime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39" y="452628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85031" y="469087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ptos"/>
              </a:defRPr>
            </a:pPr>
            <a:r>
              <a:t>@Profile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5031" y="509320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52628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469087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Aptos"/>
              </a:defRPr>
            </a:pPr>
            <a:r>
              <a:t>@Import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509320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Combine configs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Aptos"/>
              </a:defRPr>
            </a:pPr>
            <a: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How the annotations work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241280" cy="804672"/>
          </a:xfrm>
          <a:prstGeom prst="roundRect">
            <a:avLst/>
          </a:prstGeom>
          <a:solidFill>
            <a:srgbClr val="15223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75564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ptos"/>
              </a:defRPr>
            </a:pPr>
            <a:r>
              <a:t>1. 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75564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@Bean • @Import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5564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Bring objects/config into Spring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10241280" cy="804672"/>
          </a:xfrm>
          <a:prstGeom prst="roundRect">
            <a:avLst/>
          </a:prstGeom>
          <a:solidFill>
            <a:srgbClr val="15223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85292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Aptos"/>
              </a:defRPr>
            </a:pPr>
            <a:r>
              <a:t>2.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85292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@Autowired • @Qualifier • @Primary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5292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Decide what gets injected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40480"/>
            <a:ext cx="10241280" cy="804672"/>
          </a:xfrm>
          <a:prstGeom prst="roundRect">
            <a:avLst/>
          </a:prstGeom>
          <a:solidFill>
            <a:srgbClr val="15223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95020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ptos"/>
              </a:defRPr>
            </a:pPr>
            <a:r>
              <a:t>3. 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95020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@Value • @Profile • @DependsOn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502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Control values, environments &amp;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37759"/>
            <a:ext cx="10241280" cy="804672"/>
          </a:xfrm>
          <a:prstGeom prst="roundRect">
            <a:avLst/>
          </a:prstGeom>
          <a:solidFill>
            <a:srgbClr val="15223D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504748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Aptos"/>
              </a:defRPr>
            </a:pPr>
            <a:r>
              <a:t>4.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04748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@Lazy • @Lookup • @Scope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04748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Control creation time, retrieval &amp; lifetime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7240" y="1294314"/>
            <a:ext cx="7772400" cy="18004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7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WRITE LESS.</a:t>
            </a:r>
            <a:br>
              <a:rPr lang="en-US" dirty="0"/>
            </a:br>
            <a:r>
              <a:rPr lang="en-US" dirty="0"/>
              <a:t>LET SPRING DO MORE. </a:t>
            </a:r>
          </a:p>
          <a:p>
            <a:pPr algn="l">
              <a:defRPr sz="37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8046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Aptos"/>
              </a:defRPr>
            </a:pPr>
            <a:r>
              <a:t>Remember the flow: Create → Connect → Configure →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1143000"/>
            <a:ext cx="2423160" cy="2423160"/>
          </a:xfrm>
          <a:prstGeom prst="roundRect">
            <a:avLst/>
          </a:prstGeom>
          <a:solidFill>
            <a:srgbClr val="15223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32520" y="1325880"/>
            <a:ext cx="1965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22D3E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42316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Aptos"/>
              </a:defRPr>
            </a:pPr>
            <a:r>
              <a:t>ANNOTATIONS</a:t>
            </a:r>
            <a:br/>
            <a:r>
              <a:t>MASTERED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3931920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590288"/>
            <a:ext cx="3931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rPr dirty="0"/>
              <a:t>THANK YOU •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1310</Words>
  <Application>Microsoft Office PowerPoint</Application>
  <PresentationFormat>Widescreen</PresentationFormat>
  <Paragraphs>269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Admin</cp:lastModifiedBy>
  <cp:revision>7</cp:revision>
  <dcterms:created xsi:type="dcterms:W3CDTF">2013-01-27T09:14:16Z</dcterms:created>
  <dcterms:modified xsi:type="dcterms:W3CDTF">2026-08-28T15:10:19Z</dcterms:modified>
  <cp:category/>
</cp:coreProperties>
</file>