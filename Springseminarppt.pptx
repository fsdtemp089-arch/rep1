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3" r:id="rId14"/>
    <p:sldId id="274" r:id="rId15"/>
    <p:sldId id="271" r:id="rId16"/>
    <p:sldId id="272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8" dt="2026-08-29T02:05:57.658"/>
    <p1510:client id="{0523447A-4D11-D6D6-3E7F-E6F9BAFB2E56}" v="1" dt="2026-08-29T01:39:46.400"/>
    <p1510:client id="{5FEE5CEA-13DF-F533-FA12-9D58C5A4DEB0}" v="1" dt="2026-08-29T01:42:31.260"/>
    <p1510:client id="{8B51B40C-2D17-464F-912B-F28AA955869C}" v="72" dt="2026-08-29T01:40:30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365760"/>
            <a:ext cx="1097280" cy="10972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1097280"/>
            <a:ext cx="640080" cy="64008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731520" cy="731520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394960"/>
            <a:ext cx="411480" cy="411480"/>
          </a:xfrm>
          <a:prstGeom prst="ellipse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SPRING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77724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ptos"/>
              </a:defRPr>
            </a:pPr>
            <a:r>
              <a:t>SPRING</a:t>
            </a:r>
            <a:br/>
            <a:r>
              <a:t>ANNOTATIONS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From setup → Spring Boot → real annotations → easy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53035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721607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@Autowired  @Bean  @Qualifier  @Value  + 7 more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2926080" cy="2834640"/>
          </a:xfrm>
          <a:prstGeom prst="roundRect">
            <a:avLst/>
          </a:prstGeom>
          <a:solidFill>
            <a:srgbClr val="15223D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286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200" b="1">
                <a:solidFill>
                  <a:srgbClr val="22D3EE"/>
                </a:solidFill>
                <a:latin typeface="Aptos"/>
              </a:defRPr>
            </a:pPr>
            <a:r>
              <a:t>@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0332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ANNOTATION</a:t>
            </a:r>
            <a:br/>
            <a:r>
              <a:t>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JAVA • SPRING • SPRING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616DD-43E7-33B2-5A83-DF3514956DFD}"/>
              </a:ext>
            </a:extLst>
          </p:cNvPr>
          <p:cNvSpPr txBox="1"/>
          <p:nvPr/>
        </p:nvSpPr>
        <p:spPr>
          <a:xfrm>
            <a:off x="1008667" y="4567194"/>
            <a:ext cx="2545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 SIDDHARTH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KARTHIK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ASHISH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ULLAS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RAM NARAYAN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0C0FD0-3277-394D-3AB9-A4AFA6923F2D}"/>
              </a:ext>
            </a:extLst>
          </p:cNvPr>
          <p:cNvSpPr txBox="1"/>
          <p:nvPr/>
        </p:nvSpPr>
        <p:spPr>
          <a:xfrm>
            <a:off x="1008667" y="4139582"/>
            <a:ext cx="15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By :-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First, we build the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" y="1966073"/>
            <a:ext cx="2834640" cy="118872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0690" y="1987999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451" y="2212211"/>
            <a:ext cx="28346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A  short introduction to </a:t>
            </a:r>
          </a:p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Spring 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2212" y="2723906"/>
            <a:ext cx="28346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/>
              <a:t>Limitations of spring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/>
              <a:t>How spring boot overcomes the spring</a:t>
            </a: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78512" y="2434161"/>
            <a:ext cx="3337560" cy="137160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7811" y="247950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85860" y="5081065"/>
            <a:ext cx="3337560" cy="137160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22875" y="5213940"/>
            <a:ext cx="502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0</a:t>
            </a:r>
            <a:r>
              <a:rPr lang="en-US"/>
              <a:t>4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3834" y="2743336"/>
            <a:ext cx="28346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Annotations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7155" y="3023988"/>
            <a:ext cx="28346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/>
              <a:t>All eleven Spring annotations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29474" y="5454149"/>
            <a:ext cx="283464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Questions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Doubts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6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Thank you </a:t>
            </a: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68822" y="3285598"/>
            <a:ext cx="3337560" cy="1371600"/>
          </a:xfrm>
          <a:prstGeom prst="roundRect">
            <a:avLst/>
          </a:prstGeom>
          <a:solidFill>
            <a:srgbClr val="15223D"/>
          </a:solidFill>
          <a:ln>
            <a:solidFill>
              <a:srgbClr val="34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92806" y="3396416"/>
            <a:ext cx="5029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0</a:t>
            </a:r>
            <a:r>
              <a:rPr lang="en-US"/>
              <a:t>3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20282" y="362630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Annotations Deep Dive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0282" y="3947830"/>
            <a:ext cx="28346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100" b="0">
                <a:solidFill>
                  <a:srgbClr val="94A3B8"/>
                </a:solidFill>
                <a:latin typeface="Aptos"/>
              </a:defRPr>
            </a:pPr>
            <a:r>
              <a:rPr lang="en-US"/>
              <a:t>How annotations work together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43F5E"/>
                </a:solidFill>
                <a:latin typeface="Aptos"/>
              </a:defRPr>
            </a:pPr>
            <a:r>
              <a:t>WHY SPRING BOOT?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The pain points of traditional Spring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1965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Adding dependencies / JAR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1965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Manual dependency management can be time-consuming.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42615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Arranging a physical server like TOMCAT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42615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Traditional deployment often needs external server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6557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Managing a physical database like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6557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Infrastructure and database setup add complexity.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0624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8853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Configuring applicationContext.xml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28853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XML configuration can become lengthy and confusing.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29200"/>
            <a:ext cx="10652760" cy="621792"/>
          </a:xfrm>
          <a:prstGeom prst="roundRect">
            <a:avLst/>
          </a:prstGeom>
          <a:solidFill>
            <a:srgbClr val="15223D"/>
          </a:solidFill>
          <a:ln>
            <a:solidFill>
              <a:srgbClr val="3A4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111496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t>Project structure confusion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11496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Aptos"/>
              </a:defRPr>
            </a:pPr>
            <a:r>
              <a:t>More setup decisions before writing actual features.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Spring Boot reduces this setup friction 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Key features that simplify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" y="1947672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47672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74519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Auto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Spring configures sensible defaults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70632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2935224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93522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Spring Boot Starters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Ready-made dependency bundles.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58184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1832" y="3922776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922776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496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Embedded Servers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42232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Run with embedded Tomcat/Jetty.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45736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1832" y="4910328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4910328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37176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Spring Initializr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129784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Generate a project quickly from start.spring.io.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783080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65392" y="1947672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1947672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1874519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Production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167128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Actuator endpoints for monitoring.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770632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65392" y="2935224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2935224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86207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Minimal / No XML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154680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Java configuration and annotations reduce XML.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758184"/>
            <a:ext cx="5074920" cy="749808"/>
          </a:xfrm>
          <a:prstGeom prst="roundRect">
            <a:avLst/>
          </a:prstGeom>
          <a:solidFill>
            <a:srgbClr val="15223D"/>
          </a:solidFill>
          <a:ln>
            <a:solidFill>
              <a:srgbClr val="334F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65392" y="3922776"/>
            <a:ext cx="384048" cy="38404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3922776"/>
            <a:ext cx="3840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849624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142232"/>
            <a:ext cx="3977639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Works smoothly with DBs, queues and cloud services.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229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Aptos"/>
              </a:defRPr>
            </a:pPr>
            <a:r>
              <a:t>NOW THE MAGIC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Aptos"/>
              </a:defRPr>
            </a:pPr>
            <a:r>
              <a:t>SPRING</a:t>
            </a:r>
            <a:br/>
            <a:r>
              <a:t>ANNOTATIONS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6949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11 annotations • 11 simple examples • one clear mental model</a:t>
            </a:r>
          </a:p>
        </p:txBody>
      </p:sp>
      <p:sp>
        <p:nvSpPr>
          <p:cNvPr id="5" name="Oval 4"/>
          <p:cNvSpPr/>
          <p:nvPr/>
        </p:nvSpPr>
        <p:spPr>
          <a:xfrm>
            <a:off x="7863840" y="1965960"/>
            <a:ext cx="384048" cy="384048"/>
          </a:xfrm>
          <a:prstGeom prst="ellipse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30767" y="2743200"/>
            <a:ext cx="384048" cy="38404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97696" y="1965960"/>
            <a:ext cx="384048" cy="384048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64624" y="2743200"/>
            <a:ext cx="384048" cy="384048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31552" y="1965960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98480" y="2743200"/>
            <a:ext cx="384048" cy="384048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411480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590288"/>
            <a:ext cx="4114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Create → Inject → Configure →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@Bean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Declares that a method returns an object managed by Spring.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Declares that a method returns an object managed by Spring.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@Configuration</a:t>
            </a:r>
            <a:br>
              <a:rPr/>
            </a:br>
            <a:r>
              <a:t>class </a:t>
            </a:r>
            <a:r>
              <a:rPr err="1"/>
              <a:t>AppConfig</a:t>
            </a:r>
            <a:r>
              <a:t> {</a:t>
            </a:r>
            <a:br>
              <a:rPr/>
            </a:br>
            <a:r>
              <a:t>    @Bean</a:t>
            </a:r>
            <a:br>
              <a:rPr/>
            </a:br>
            <a:r>
              <a:t>    public Car car() {</a:t>
            </a:r>
            <a:br>
              <a:rPr/>
            </a:br>
            <a:r>
              <a:t>        return new Car();</a:t>
            </a:r>
            <a:br>
              <a:rPr/>
            </a:br>
            <a:r>
              <a:t>    }</a:t>
            </a:r>
            <a:br>
              <a:rPr/>
            </a:br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66470"/>
            <a:ext cx="64922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 → Spring stores the returned Car as a bean.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Bean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@Autowired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Automatically injects a required dependency.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Automatically injects a required dependency.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32607"/>
            <a:ext cx="26974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rPr>
                <a:solidFill>
                  <a:schemeClr val="bg1">
                    <a:lumMod val="95000"/>
                  </a:schemeClr>
                </a:solidFill>
              </a:rPr>
              <a:t>Use it when one Spring bean needs another bean.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44683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@Autowired 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Class Car {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    Engine </a:t>
            </a:r>
            <a:r>
              <a:rPr lang="en-US" err="1"/>
              <a:t>engine</a:t>
            </a:r>
            <a:r>
              <a:rPr lang="en-US"/>
              <a:t> ;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    @Autowired 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    Car ( Engine engine) {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        </a:t>
            </a:r>
            <a:r>
              <a:rPr lang="en-US" err="1"/>
              <a:t>this.engine</a:t>
            </a:r>
            <a:r>
              <a:rPr lang="en-US"/>
              <a:t> = engine;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    }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}</a:t>
            </a: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66470"/>
            <a:ext cx="649224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Here : </a:t>
            </a:r>
            <a:r>
              <a:rPr lang="en-US" dirty="0" err="1"/>
              <a:t>Autowired</a:t>
            </a:r>
            <a:r>
              <a:rPr lang="en-US" dirty="0"/>
              <a:t> will help us by importing the required dependencies.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Autowired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@Qualifier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Chooses exactly which bean to inject when multiple beans have the same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Chooses exactly which bean to inject when multiple beans have the same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 it together with dependency injection.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@Autowired</a:t>
            </a:r>
            <a:br/>
            <a:r>
              <a:t>@Qualifier("upiPayment")</a:t>
            </a:r>
            <a:br/>
            <a:r>
              <a:t>private PaymentService paymentService;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Qualifier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Injects a value from properties, environment variables or expressions.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Injects a value from properties, environment variables or expressions.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Perfect for URLs, names and simple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@Value("${app.name}")</a:t>
            </a:r>
            <a:br/>
            <a:r>
              <a:t>private String appName;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@DependsOn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Forces one bean to be created before another bean.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Forces one bean to be created before another bean.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 when initialization order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4506012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@Bean</a:t>
            </a:r>
            <a:br/>
            <a:r>
              <a:t>@DependsOn("database")</a:t>
            </a:r>
            <a:br/>
            <a:r>
              <a:t>public ReportService reportService() {</a:t>
            </a:r>
            <a:br/>
            <a:r>
              <a:t>    return new ReportService();</a:t>
            </a:r>
            <a:br/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DependsOn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182F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@Lazy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Delays bean creation until it is actually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182F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rPr dirty="0"/>
              <a:t>Delays bean creation until it is actually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182F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Useful for expensive or rarely used beans.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4524866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42473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@Component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@Lazy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public class Student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public void display()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("Hello Student");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}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}------------------------------------------------------------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@Component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public class College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endParaRPr lang="en-US" dirty="0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@Autowired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Student </a:t>
            </a:r>
            <a:r>
              <a:rPr lang="en-US" dirty="0" err="1"/>
              <a:t>student</a:t>
            </a:r>
            <a:r>
              <a:rPr lang="en-US" dirty="0"/>
              <a:t>;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endParaRPr lang="en-US" dirty="0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public void show()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    </a:t>
            </a:r>
            <a:r>
              <a:rPr lang="en-US" dirty="0" err="1"/>
              <a:t>student.display</a:t>
            </a:r>
            <a:r>
              <a:rPr lang="en-US" dirty="0"/>
              <a:t>();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    }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/>
              <a:t>}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3182F6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Lazy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Tells Spring to override a method and return a bean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Tells Spring to override a method and return a bean dynamically.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Useful when a singleton needs a fresh prototype bean.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1040" y="1717040"/>
            <a:ext cx="7447280" cy="446532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ea typeface="Calibri"/>
              <a:cs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21200" y="1991360"/>
            <a:ext cx="73152" cy="288036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9496A-76AA-2D12-59D8-B5F43C81A61A}"/>
              </a:ext>
            </a:extLst>
          </p:cNvPr>
          <p:cNvSpPr txBox="1"/>
          <p:nvPr/>
        </p:nvSpPr>
        <p:spPr>
          <a:xfrm>
            <a:off x="4821456" y="1925347"/>
            <a:ext cx="66999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@Component</a:t>
            </a:r>
          </a:p>
          <a:p>
            <a:r>
              <a:rPr lang="en-US" dirty="0">
                <a:solidFill>
                  <a:schemeClr val="bg1"/>
                </a:solidFill>
              </a:rPr>
              <a:t>@Scope("prototype")</a:t>
            </a:r>
          </a:p>
          <a:p>
            <a:r>
              <a:rPr lang="en-US" dirty="0">
                <a:solidFill>
                  <a:schemeClr val="bg1"/>
                </a:solidFill>
              </a:rPr>
              <a:t>public class Student {</a:t>
            </a:r>
          </a:p>
          <a:p>
            <a:r>
              <a:rPr lang="en-US" dirty="0">
                <a:solidFill>
                  <a:schemeClr val="bg1"/>
                </a:solidFill>
              </a:rPr>
              <a:t>    public void display() {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System.out.println</a:t>
            </a:r>
            <a:r>
              <a:rPr lang="en-US" dirty="0">
                <a:solidFill>
                  <a:schemeClr val="bg1"/>
                </a:solidFill>
              </a:rPr>
              <a:t>("Student object"); }</a:t>
            </a:r>
          </a:p>
          <a:p>
            <a:r>
              <a:rPr lang="en-US" dirty="0">
                <a:solidFill>
                  <a:schemeClr val="bg1"/>
                </a:solidFill>
              </a:rPr>
              <a:t>    }-----------------------------------------------------------------------------------------</a:t>
            </a:r>
          </a:p>
          <a:p>
            <a:r>
              <a:rPr lang="en-US" dirty="0">
                <a:solidFill>
                  <a:schemeClr val="bg1"/>
                </a:solidFill>
              </a:rPr>
              <a:t>@Component</a:t>
            </a:r>
          </a:p>
          <a:p>
            <a:r>
              <a:rPr lang="en-US" dirty="0">
                <a:solidFill>
                  <a:schemeClr val="bg1"/>
                </a:solidFill>
              </a:rPr>
              <a:t>public class College {</a:t>
            </a:r>
          </a:p>
          <a:p>
            <a:r>
              <a:rPr lang="en-US" dirty="0">
                <a:solidFill>
                  <a:schemeClr val="bg1"/>
                </a:solidFill>
              </a:rPr>
              <a:t>    @Lookup</a:t>
            </a:r>
          </a:p>
          <a:p>
            <a:r>
              <a:rPr lang="en-US" dirty="0">
                <a:solidFill>
                  <a:schemeClr val="bg1"/>
                </a:solidFill>
              </a:rPr>
              <a:t>    public Student </a:t>
            </a:r>
            <a:r>
              <a:rPr lang="en-US" dirty="0" err="1">
                <a:solidFill>
                  <a:schemeClr val="bg1"/>
                </a:solidFill>
              </a:rPr>
              <a:t>getStudent</a:t>
            </a:r>
            <a:r>
              <a:rPr lang="en-US" dirty="0">
                <a:solidFill>
                  <a:schemeClr val="bg1"/>
                </a:solidFill>
              </a:rPr>
              <a:t>() {</a:t>
            </a:r>
          </a:p>
          <a:p>
            <a:r>
              <a:rPr lang="en-US" dirty="0">
                <a:solidFill>
                  <a:schemeClr val="bg1"/>
                </a:solidFill>
              </a:rPr>
              <a:t>        return null; }</a:t>
            </a:r>
          </a:p>
          <a:p>
            <a:r>
              <a:rPr lang="en-US" dirty="0">
                <a:solidFill>
                  <a:schemeClr val="bg1"/>
                </a:solidFill>
              </a:rPr>
              <a:t>    public void show() {</a:t>
            </a:r>
          </a:p>
          <a:p>
            <a:r>
              <a:rPr lang="en-US" dirty="0">
                <a:solidFill>
                  <a:schemeClr val="bg1"/>
                </a:solidFill>
              </a:rPr>
              <a:t>        Student s = </a:t>
            </a:r>
            <a:r>
              <a:rPr lang="en-US" dirty="0" err="1">
                <a:solidFill>
                  <a:schemeClr val="bg1"/>
                </a:solidFill>
              </a:rPr>
              <a:t>getStudent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s.display</a:t>
            </a:r>
            <a:r>
              <a:rPr lang="en-US" dirty="0">
                <a:solidFill>
                  <a:schemeClr val="bg1"/>
                </a:solidFill>
              </a:rPr>
              <a:t>();</a:t>
            </a:r>
          </a:p>
          <a:p>
            <a:r>
              <a:rPr lang="en-US" dirty="0">
                <a:solidFill>
                  <a:schemeClr val="bg1"/>
                </a:solidFill>
              </a:rPr>
              <a:t>    } }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Loads a bean only for a specific environment.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Loads a bean only for a specific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Great for dev, test and production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1200" y="1283044"/>
            <a:ext cx="6968801" cy="539290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0606" y="1767017"/>
            <a:ext cx="42260" cy="4198413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855" y="1739419"/>
            <a:ext cx="6660291" cy="44781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@Component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@Profile("dev")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>
                <a:ea typeface="+mn-lt"/>
                <a:cs typeface="+mn-lt"/>
              </a:rPr>
              <a:t>public class </a:t>
            </a:r>
            <a:r>
              <a:rPr lang="en-US" dirty="0" err="1">
                <a:ea typeface="+mn-lt"/>
                <a:cs typeface="+mn-lt"/>
              </a:rPr>
              <a:t>DevDatabase</a:t>
            </a:r>
            <a:r>
              <a:rPr lang="en-US" dirty="0">
                <a:ea typeface="+mn-lt"/>
                <a:cs typeface="+mn-lt"/>
              </a:rPr>
              <a:t>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public void connect()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>
                <a:ea typeface="+mn-lt"/>
                <a:cs typeface="+mn-lt"/>
              </a:rPr>
              <a:t>        </a:t>
            </a:r>
            <a:r>
              <a:rPr lang="en-US" dirty="0" err="1">
                <a:ea typeface="+mn-lt"/>
                <a:cs typeface="+mn-lt"/>
              </a:rPr>
              <a:t>System.out.println</a:t>
            </a:r>
            <a:r>
              <a:rPr lang="en-US" dirty="0">
                <a:ea typeface="+mn-lt"/>
                <a:cs typeface="+mn-lt"/>
              </a:rPr>
              <a:t>("Connected to Development Database");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}</a:t>
            </a:r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}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------------------------------------------------------------</a:t>
            </a:r>
            <a:endParaRPr lang="en-US" dirty="0">
              <a:ea typeface="+mn-lt"/>
              <a:cs typeface="+mn-lt"/>
            </a:endParaRP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@Component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@Profile("prod")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>
                <a:ea typeface="+mn-lt"/>
                <a:cs typeface="+mn-lt"/>
              </a:rPr>
              <a:t>public class </a:t>
            </a:r>
            <a:r>
              <a:rPr lang="en-US" dirty="0" err="1">
                <a:ea typeface="+mn-lt"/>
                <a:cs typeface="+mn-lt"/>
              </a:rPr>
              <a:t>ProdDatabase</a:t>
            </a:r>
            <a:r>
              <a:rPr lang="en-US" dirty="0">
                <a:ea typeface="+mn-lt"/>
                <a:cs typeface="+mn-lt"/>
              </a:rPr>
              <a:t> {</a:t>
            </a:r>
            <a:endParaRPr lang="en-US" dirty="0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public void connect() {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>
                <a:ea typeface="+mn-lt"/>
                <a:cs typeface="+mn-lt"/>
              </a:rPr>
              <a:t>        </a:t>
            </a:r>
            <a:r>
              <a:rPr lang="en-US" dirty="0" err="1">
                <a:ea typeface="+mn-lt"/>
                <a:cs typeface="+mn-lt"/>
              </a:rPr>
              <a:t>System.out.println</a:t>
            </a:r>
            <a:r>
              <a:rPr lang="en-US" dirty="0">
                <a:ea typeface="+mn-lt"/>
                <a:cs typeface="+mn-lt"/>
              </a:rPr>
              <a:t>("Connected to Production Database");</a:t>
            </a:r>
            <a:endParaRPr lang="en-US" dirty="0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Imports configuration classes into another configuration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Imports configuration classes into another configuration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Use it to organize large applications into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7270" y="1713781"/>
            <a:ext cx="6767711" cy="4188699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87529" cy="3469831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@Configuration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>
                <a:ea typeface="+mn-lt"/>
                <a:cs typeface="+mn-lt"/>
              </a:rPr>
              <a:t>public class </a:t>
            </a:r>
            <a:r>
              <a:rPr lang="en-US" dirty="0" err="1">
                <a:ea typeface="+mn-lt"/>
                <a:cs typeface="+mn-lt"/>
              </a:rPr>
              <a:t>DatabaseConfig</a:t>
            </a:r>
            <a:r>
              <a:rPr lang="en-US" dirty="0">
                <a:ea typeface="+mn-lt"/>
                <a:cs typeface="+mn-lt"/>
              </a:rPr>
              <a:t> {</a:t>
            </a:r>
            <a:endParaRPr lang="en-US" dirty="0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@Bean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public Database database() {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     return new Database();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}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Calibri"/>
                <a:cs typeface="Calibri"/>
              </a:rPr>
              <a:t>-------------------------------------------------------------</a:t>
            </a:r>
            <a:r>
              <a:rPr lang="en-US">
                <a:ea typeface="+mn-lt"/>
                <a:cs typeface="+mn-lt"/>
              </a:rPr>
              <a:t>@Configuration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@Import(DatabaseConfig.class)</a:t>
            </a: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 dirty="0">
                <a:ea typeface="+mn-lt"/>
                <a:cs typeface="+mn-lt"/>
              </a:rPr>
              <a:t>public class </a:t>
            </a:r>
            <a:r>
              <a:rPr lang="en-US" dirty="0" err="1">
                <a:ea typeface="+mn-lt"/>
                <a:cs typeface="+mn-lt"/>
              </a:rPr>
              <a:t>AppConfig</a:t>
            </a:r>
            <a:r>
              <a:rPr lang="en-US" dirty="0">
                <a:ea typeface="+mn-lt"/>
                <a:cs typeface="+mn-lt"/>
              </a:rPr>
              <a:t> {</a:t>
            </a:r>
            <a:endParaRPr lang="en-US" dirty="0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endParaRPr lang="en-US"/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Marks one bean as the default choice when multiple beans match.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" y="1847088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270" y="2170041"/>
            <a:ext cx="3102864" cy="19236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endParaRPr lang="en-US"/>
          </a:p>
          <a:p>
            <a:pPr>
              <a:defRPr sz="17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@Primary is a Spring annotation used to tell Spring which bean should be selected by default when multiple beans of the same type are available.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09090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Avoids ambiguity without repeating @Qualifier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/>
              <a:t>interface Animal { void sound(); }</a:t>
            </a:r>
          </a:p>
          <a:p>
            <a:endParaRPr lang="en-IN" sz="1500"/>
          </a:p>
          <a:p>
            <a:r>
              <a:rPr lang="en-IN" sz="1500"/>
              <a:t>@Component</a:t>
            </a:r>
          </a:p>
          <a:p>
            <a:r>
              <a:rPr lang="en-IN" sz="1500"/>
              <a:t>class Dog implements Animal {</a:t>
            </a:r>
          </a:p>
          <a:p>
            <a:r>
              <a:rPr lang="en-IN" sz="1500"/>
              <a:t>    public void sound() { </a:t>
            </a:r>
            <a:r>
              <a:rPr lang="en-IN" sz="1500" err="1"/>
              <a:t>System.out.println</a:t>
            </a:r>
            <a:r>
              <a:rPr lang="en-IN" sz="1500"/>
              <a:t>("Dog"); }</a:t>
            </a:r>
          </a:p>
          <a:p>
            <a:r>
              <a:rPr lang="en-IN" sz="1500"/>
              <a:t>}</a:t>
            </a:r>
          </a:p>
          <a:p>
            <a:endParaRPr lang="en-IN" sz="1500"/>
          </a:p>
          <a:p>
            <a:r>
              <a:rPr lang="en-IN" sz="1500"/>
              <a:t>@Component @Primary</a:t>
            </a:r>
          </a:p>
          <a:p>
            <a:r>
              <a:rPr lang="en-IN" sz="1500"/>
              <a:t>class Cat implements Animal {</a:t>
            </a:r>
          </a:p>
          <a:p>
            <a:r>
              <a:rPr lang="en-IN" sz="1500"/>
              <a:t>    public void sound() { </a:t>
            </a:r>
            <a:r>
              <a:rPr lang="en-IN" sz="1500" err="1"/>
              <a:t>System.out.println</a:t>
            </a:r>
            <a:r>
              <a:rPr lang="en-IN" sz="1500"/>
              <a:t>("Cat"); }</a:t>
            </a:r>
          </a:p>
          <a:p>
            <a:r>
              <a:rPr lang="en-IN" sz="1500"/>
              <a:t>}</a:t>
            </a:r>
            <a:endParaRPr sz="1500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card() is selected by default.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ANNOTATION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@Scope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Controls how long a bean lives and how it is shared.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26974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Controls how long a bean lives and how it is shared.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343400"/>
            <a:ext cx="2697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Common scopes: singleton and prototype.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7040880" cy="2880360"/>
          </a:xfrm>
          <a:prstGeom prst="roundRect">
            <a:avLst/>
          </a:prstGeom>
          <a:solidFill>
            <a:srgbClr val="070C1A"/>
          </a:solidFill>
          <a:ln>
            <a:solidFill>
              <a:srgbClr val="2B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28803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6629400" cy="21698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@Component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@Scope("prototype")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public class Student {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en-US"/>
              <a:t>}</a:t>
            </a:r>
            <a:br>
              <a:rPr lang="en-US"/>
            </a:br>
            <a:br>
              <a:rPr lang="en-US"/>
            </a:br>
            <a:r>
              <a:rPr lang="en-US"/>
              <a:t>FOR EXAMPLE :- </a:t>
            </a:r>
            <a:br>
              <a:rPr lang="en-US"/>
            </a:br>
            <a:br>
              <a:rPr lang="en-US"/>
            </a:br>
            <a:r>
              <a:rPr lang="nl-NL"/>
              <a:t>Student s1 = context.getBean(Student.class);</a:t>
            </a:r>
          </a:p>
          <a:p>
            <a:pPr>
              <a:defRPr sz="1500" b="0">
                <a:solidFill>
                  <a:srgbClr val="F8FAFC"/>
                </a:solidFill>
                <a:latin typeface="Consolas"/>
              </a:defRPr>
            </a:pPr>
            <a:r>
              <a:rPr lang="nl-NL"/>
              <a:t>Student s2 = context.getBean(Student.class);</a:t>
            </a: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4983480"/>
            <a:ext cx="7040880" cy="685800"/>
          </a:xfrm>
          <a:prstGeom prst="roundRect">
            <a:avLst/>
          </a:prstGeom>
          <a:solidFill>
            <a:srgbClr val="1D3054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5138928"/>
            <a:ext cx="6492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EASY EXAMPLE → Every request for task gets a new Task object.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411480"/>
            <a:ext cx="1417320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429768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RAPID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All 11 annotations in one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ptos"/>
              </a:defRPr>
            </a:pPr>
            <a:r>
              <a:t>@Autowired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Inject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1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@Bean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ptos"/>
              </a:defRPr>
            </a:pPr>
            <a:r>
              <a:t>@Qualifier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69164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45751" y="185623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ptos"/>
              </a:defRPr>
            </a:pPr>
            <a:r>
              <a:t>@Value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1" y="225856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Read 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Aptos"/>
              </a:defRPr>
            </a:pPr>
            <a:r>
              <a:t>@DependsOn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31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1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3182F6"/>
                </a:solidFill>
                <a:latin typeface="Aptos"/>
              </a:defRPr>
            </a:pPr>
            <a:r>
              <a:t>@Lazy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1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Delay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ptos"/>
              </a:defRPr>
            </a:pPr>
            <a:r>
              <a:t>@Lookup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Fetch dynamically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59" y="310896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45751" y="327355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Aptos"/>
              </a:defRPr>
            </a:pPr>
            <a:r>
              <a:t>@Primary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1" y="367588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Default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2628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" y="469087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@Scope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09320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Lifetime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452628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85031" y="469087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ptos"/>
              </a:defRPr>
            </a:pPr>
            <a:r>
              <a:t>@Profile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1" y="509320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26280"/>
            <a:ext cx="2560320" cy="1024128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690872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ptos"/>
              </a:defRPr>
            </a:pPr>
            <a:r>
              <a:t>@Import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509320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8FAFC"/>
                </a:solidFill>
                <a:latin typeface="Aptos"/>
              </a:defRPr>
            </a:pPr>
            <a:r>
              <a:t>Combine configs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"/>
              </a:defRPr>
            </a:pPr>
            <a:r>
              <a:t>How the annotations work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ptos"/>
              </a:defRPr>
            </a:pPr>
            <a:r>
              <a:t>1.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5564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@Bean • @Import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5564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Bring objects/config into Spring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85292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Aptos"/>
              </a:defRPr>
            </a:pPr>
            <a:r>
              <a:t>2.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5292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@Autowired • @Qualifier • @Primary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5292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Decide what gets injected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95020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ptos"/>
              </a:defRPr>
            </a:pPr>
            <a:r>
              <a:t>3. 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95020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@Value • @Profile • @DependsOn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502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Control values, environments &amp;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37759"/>
            <a:ext cx="10241280" cy="804672"/>
          </a:xfrm>
          <a:prstGeom prst="roundRect">
            <a:avLst/>
          </a:prstGeom>
          <a:solidFill>
            <a:srgbClr val="15223D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5047488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ptos"/>
              </a:defRPr>
            </a:pPr>
            <a:r>
              <a:t>4.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04748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@Lazy • @Lookup • @Scope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4748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Control creation time, retrieval &amp; lifetime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1294314"/>
            <a:ext cx="7772400" cy="1800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7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WRITE LESS.</a:t>
            </a:r>
            <a:br>
              <a:rPr lang="en-US"/>
            </a:br>
            <a:r>
              <a:rPr lang="en-US"/>
              <a:t>LET SPRING DO MORE. </a:t>
            </a:r>
          </a:p>
          <a:p>
            <a:pPr algn="l">
              <a:defRPr sz="3700" b="1">
                <a:solidFill>
                  <a:srgbClr val="F8FAFC"/>
                </a:solidFill>
                <a:latin typeface="Aptos"/>
              </a:defRPr>
            </a:pPr>
            <a:r>
              <a:rPr lang="en-US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8046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Aptos"/>
              </a:defRPr>
            </a:pPr>
            <a:r>
              <a:t>Remember the flow: Create → Connect → Configure →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143000"/>
            <a:ext cx="2423160" cy="2423160"/>
          </a:xfrm>
          <a:prstGeom prst="roundRect">
            <a:avLst/>
          </a:prstGeom>
          <a:solidFill>
            <a:srgbClr val="15223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32520" y="1325880"/>
            <a:ext cx="1965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22D3E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42316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ANNOTATIONS</a:t>
            </a:r>
            <a:br/>
            <a:r>
              <a:t>MASTERED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93192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590288"/>
            <a:ext cx="3931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3474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SPRING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Widescreen</PresentationFormat>
  <Paragraphs>338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64</cp:revision>
  <dcterms:created xsi:type="dcterms:W3CDTF">2013-01-27T09:14:16Z</dcterms:created>
  <dcterms:modified xsi:type="dcterms:W3CDTF">2026-08-29T02:14:42Z</dcterms:modified>
  <cp:category/>
</cp:coreProperties>
</file>